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75" r:id="rId21"/>
    <p:sldId id="277" r:id="rId22"/>
    <p:sldId id="278" r:id="rId23"/>
    <p:sldId id="282" r:id="rId24"/>
    <p:sldId id="281" r:id="rId25"/>
    <p:sldId id="283" r:id="rId26"/>
    <p:sldId id="284" r:id="rId27"/>
    <p:sldId id="286" r:id="rId28"/>
    <p:sldId id="285" r:id="rId29"/>
    <p:sldId id="287" r:id="rId30"/>
    <p:sldId id="288" r:id="rId31"/>
    <p:sldId id="289"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2" d="100"/>
          <a:sy n="92" d="100"/>
        </p:scale>
        <p:origin x="28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2/24/2025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SYSTEMS ANALYSIS AND DESIGN</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732424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Analysis</a:t>
            </a:r>
          </a:p>
        </p:txBody>
      </p:sp>
      <p:sp>
        <p:nvSpPr>
          <p:cNvPr id="3" name="Content Placeholder 2"/>
          <p:cNvSpPr>
            <a:spLocks noGrp="1"/>
          </p:cNvSpPr>
          <p:nvPr>
            <p:ph idx="1"/>
          </p:nvPr>
        </p:nvSpPr>
        <p:spPr/>
        <p:txBody>
          <a:bodyPr>
            <a:normAutofit lnSpcReduction="10000"/>
          </a:bodyPr>
          <a:lstStyle/>
          <a:p>
            <a:r>
              <a:rPr lang="en-US" dirty="0"/>
              <a:t>Systems development is systematic process which includes phases such as planning, analysis, design, implementation, and maintenance. </a:t>
            </a:r>
          </a:p>
          <a:p>
            <a:r>
              <a:rPr lang="en-US" dirty="0"/>
              <a:t>It focusses on:</a:t>
            </a:r>
          </a:p>
          <a:p>
            <a:pPr lvl="1"/>
            <a:r>
              <a:rPr lang="en-US" dirty="0"/>
              <a:t>System Analysis</a:t>
            </a:r>
          </a:p>
          <a:p>
            <a:pPr lvl="1"/>
            <a:r>
              <a:rPr lang="en-US" dirty="0"/>
              <a:t>System Design</a:t>
            </a:r>
          </a:p>
          <a:p>
            <a:r>
              <a:rPr lang="en-US" b="1" dirty="0"/>
              <a:t>System Analysis: </a:t>
            </a:r>
            <a:r>
              <a:rPr lang="en-US" dirty="0"/>
              <a:t>Process of collecting and interpreting facts, identifying the problems, and decomposition of a system into its components.</a:t>
            </a:r>
          </a:p>
          <a:p>
            <a:r>
              <a:rPr lang="en-US" dirty="0"/>
              <a:t>System analysis is conducted for the purpose of studying a system or its parts in order to identify its objectives. It is a problem solving technique that improves the system and ensures that all the components of the system work efficiently to accomplish their purpose.</a:t>
            </a:r>
          </a:p>
          <a:p>
            <a:r>
              <a:rPr lang="en-US" dirty="0"/>
              <a:t>Analysis specifies </a:t>
            </a:r>
            <a:r>
              <a:rPr lang="en-US" b="1" dirty="0"/>
              <a:t>what the system should do</a:t>
            </a:r>
            <a:r>
              <a:rPr lang="en-US" dirty="0"/>
              <a:t>.</a:t>
            </a:r>
          </a:p>
          <a:p>
            <a:endParaRPr lang="en-US" dirty="0"/>
          </a:p>
        </p:txBody>
      </p:sp>
    </p:spTree>
    <p:extLst>
      <p:ext uri="{BB962C8B-B14F-4D97-AF65-F5344CB8AC3E}">
        <p14:creationId xmlns:p14="http://schemas.microsoft.com/office/powerpoint/2010/main" val="2430119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Design</a:t>
            </a:r>
          </a:p>
        </p:txBody>
      </p:sp>
      <p:sp>
        <p:nvSpPr>
          <p:cNvPr id="3" name="Content Placeholder 2"/>
          <p:cNvSpPr>
            <a:spLocks noGrp="1"/>
          </p:cNvSpPr>
          <p:nvPr>
            <p:ph idx="1"/>
          </p:nvPr>
        </p:nvSpPr>
        <p:spPr/>
        <p:txBody>
          <a:bodyPr/>
          <a:lstStyle/>
          <a:p>
            <a:r>
              <a:rPr lang="en-US" b="1" dirty="0"/>
              <a:t>System Design: </a:t>
            </a:r>
            <a:r>
              <a:rPr lang="en-US" dirty="0"/>
              <a:t>Process of planning a new business system or replacing an existing system by defining its components or modules to satisfy the specific requirements. </a:t>
            </a:r>
          </a:p>
          <a:p>
            <a:r>
              <a:rPr lang="en-US" dirty="0"/>
              <a:t>Before planning, you need to understand the old system thoroughly and determine how computers can best be used in order to operate efficiently.</a:t>
            </a:r>
          </a:p>
          <a:p>
            <a:r>
              <a:rPr lang="en-US" dirty="0"/>
              <a:t>System Design focuses on </a:t>
            </a:r>
            <a:r>
              <a:rPr lang="en-US" b="1" dirty="0"/>
              <a:t>how to accomplish the objective of the system</a:t>
            </a:r>
            <a:r>
              <a:rPr lang="en-US" dirty="0"/>
              <a:t>.</a:t>
            </a:r>
          </a:p>
          <a:p>
            <a:r>
              <a:rPr lang="en-US" dirty="0"/>
              <a:t>System Analysis and Design (SAD) mainly focuses on −</a:t>
            </a:r>
          </a:p>
          <a:p>
            <a:pPr lvl="1"/>
            <a:r>
              <a:rPr lang="en-US" dirty="0"/>
              <a:t>Systems</a:t>
            </a:r>
          </a:p>
          <a:p>
            <a:pPr lvl="1"/>
            <a:r>
              <a:rPr lang="en-US" dirty="0"/>
              <a:t>Processes</a:t>
            </a:r>
          </a:p>
          <a:p>
            <a:pPr lvl="1"/>
            <a:r>
              <a:rPr lang="en-US" dirty="0"/>
              <a:t>Technology</a:t>
            </a:r>
          </a:p>
          <a:p>
            <a:endParaRPr lang="en-US" dirty="0"/>
          </a:p>
        </p:txBody>
      </p:sp>
    </p:spTree>
    <p:extLst>
      <p:ext uri="{BB962C8B-B14F-4D97-AF65-F5344CB8AC3E}">
        <p14:creationId xmlns:p14="http://schemas.microsoft.com/office/powerpoint/2010/main" val="932884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What is a System?</a:t>
            </a:r>
          </a:p>
          <a:p>
            <a:r>
              <a:rPr lang="en-US" dirty="0"/>
              <a:t>The word System is derived from Greek word </a:t>
            </a:r>
            <a:r>
              <a:rPr lang="en-US" dirty="0" err="1"/>
              <a:t>Systema</a:t>
            </a:r>
            <a:r>
              <a:rPr lang="en-US" dirty="0"/>
              <a:t>, which means an organized relationship between any set of components to achieve some common cause or objective.</a:t>
            </a:r>
          </a:p>
          <a:p>
            <a:r>
              <a:rPr lang="en-US" i="1" dirty="0"/>
              <a:t>A system is “an orderly grouping of interdependent components linked together according to a plan to achieve a specific goal.”</a:t>
            </a:r>
            <a:endParaRPr lang="en-US" dirty="0"/>
          </a:p>
          <a:p>
            <a:r>
              <a:rPr lang="en-US" dirty="0"/>
              <a:t>Constraints of a System</a:t>
            </a:r>
          </a:p>
          <a:p>
            <a:r>
              <a:rPr lang="en-US" dirty="0"/>
              <a:t>A system must have three basic constraints −</a:t>
            </a:r>
          </a:p>
          <a:p>
            <a:pPr lvl="1"/>
            <a:r>
              <a:rPr lang="en-US" dirty="0"/>
              <a:t>A system must have some </a:t>
            </a:r>
            <a:r>
              <a:rPr lang="en-US" b="1" dirty="0"/>
              <a:t>structure and behavior</a:t>
            </a:r>
            <a:r>
              <a:rPr lang="en-US" dirty="0"/>
              <a:t> which is designed to achieve a predefined objective.</a:t>
            </a:r>
          </a:p>
          <a:p>
            <a:pPr lvl="1"/>
            <a:r>
              <a:rPr lang="en-US" b="1" dirty="0"/>
              <a:t>Interconnectivity</a:t>
            </a:r>
            <a:r>
              <a:rPr lang="en-US" dirty="0"/>
              <a:t> and </a:t>
            </a:r>
            <a:r>
              <a:rPr lang="en-US" b="1" dirty="0"/>
              <a:t>interdependence</a:t>
            </a:r>
            <a:r>
              <a:rPr lang="en-US" dirty="0"/>
              <a:t> must exist among the system components.</a:t>
            </a:r>
          </a:p>
          <a:p>
            <a:pPr lvl="1"/>
            <a:r>
              <a:rPr lang="en-US" dirty="0"/>
              <a:t>The </a:t>
            </a:r>
            <a:r>
              <a:rPr lang="en-US" b="1" dirty="0"/>
              <a:t>objectives of the organization</a:t>
            </a:r>
            <a:r>
              <a:rPr lang="en-US" dirty="0"/>
              <a:t> have a </a:t>
            </a:r>
            <a:r>
              <a:rPr lang="en-US" b="1" dirty="0"/>
              <a:t>higher priority</a:t>
            </a:r>
            <a:r>
              <a:rPr lang="en-US" dirty="0"/>
              <a:t> than the objectives of its subsystems.</a:t>
            </a:r>
          </a:p>
          <a:p>
            <a:endParaRPr lang="en-US" dirty="0"/>
          </a:p>
        </p:txBody>
      </p:sp>
    </p:spTree>
    <p:extLst>
      <p:ext uri="{BB962C8B-B14F-4D97-AF65-F5344CB8AC3E}">
        <p14:creationId xmlns:p14="http://schemas.microsoft.com/office/powerpoint/2010/main" val="1493619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a system</a:t>
            </a:r>
          </a:p>
        </p:txBody>
      </p:sp>
      <p:sp>
        <p:nvSpPr>
          <p:cNvPr id="3" name="Content Placeholder 2"/>
          <p:cNvSpPr>
            <a:spLocks noGrp="1"/>
          </p:cNvSpPr>
          <p:nvPr>
            <p:ph idx="1"/>
          </p:nvPr>
        </p:nvSpPr>
        <p:spPr>
          <a:xfrm>
            <a:off x="677334" y="1596045"/>
            <a:ext cx="8596668" cy="4445318"/>
          </a:xfrm>
        </p:spPr>
        <p:txBody>
          <a:bodyPr>
            <a:normAutofit lnSpcReduction="10000"/>
          </a:bodyPr>
          <a:lstStyle/>
          <a:p>
            <a:pPr marL="0" indent="0">
              <a:buNone/>
            </a:pPr>
            <a:r>
              <a:rPr lang="en-US" dirty="0"/>
              <a:t>A system has the following properties −</a:t>
            </a:r>
          </a:p>
          <a:p>
            <a:pPr marL="0" indent="0">
              <a:buNone/>
            </a:pPr>
            <a:r>
              <a:rPr lang="en-US" b="1" dirty="0"/>
              <a:t>Organization</a:t>
            </a:r>
          </a:p>
          <a:p>
            <a:r>
              <a:rPr lang="en-US" dirty="0"/>
              <a:t>Organization implies structure and order. It is the arrangement of components that helps to achieve predetermined objectives.</a:t>
            </a:r>
          </a:p>
          <a:p>
            <a:pPr marL="0" indent="0">
              <a:buNone/>
            </a:pPr>
            <a:r>
              <a:rPr lang="en-US" b="1" dirty="0"/>
              <a:t>Interaction</a:t>
            </a:r>
          </a:p>
          <a:p>
            <a:r>
              <a:rPr lang="en-US" dirty="0"/>
              <a:t>It is defined by the manner in which the components operate with each other.</a:t>
            </a:r>
          </a:p>
          <a:p>
            <a:r>
              <a:rPr lang="en-US" dirty="0"/>
              <a:t>For example, in an organization, purchasing department must interact with production department and payroll with personnel department.</a:t>
            </a:r>
          </a:p>
          <a:p>
            <a:pPr marL="0" indent="0">
              <a:buNone/>
            </a:pPr>
            <a:r>
              <a:rPr lang="en-US" b="1" dirty="0"/>
              <a:t>Interdependence</a:t>
            </a:r>
          </a:p>
          <a:p>
            <a:r>
              <a:rPr lang="en-US" dirty="0"/>
              <a:t>Interdependence means how the components of a system depend on one another. For proper functioning, the components are coordinated and linked together according to a specified plan. The output of one subsystem is the required by other subsystem as input.</a:t>
            </a:r>
          </a:p>
          <a:p>
            <a:endParaRPr lang="en-US" b="1" dirty="0"/>
          </a:p>
        </p:txBody>
      </p:sp>
    </p:spTree>
    <p:extLst>
      <p:ext uri="{BB962C8B-B14F-4D97-AF65-F5344CB8AC3E}">
        <p14:creationId xmlns:p14="http://schemas.microsoft.com/office/powerpoint/2010/main" val="3473319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a system</a:t>
            </a:r>
          </a:p>
        </p:txBody>
      </p:sp>
      <p:sp>
        <p:nvSpPr>
          <p:cNvPr id="3" name="Content Placeholder 2"/>
          <p:cNvSpPr>
            <a:spLocks noGrp="1"/>
          </p:cNvSpPr>
          <p:nvPr>
            <p:ph idx="1"/>
          </p:nvPr>
        </p:nvSpPr>
        <p:spPr/>
        <p:txBody>
          <a:bodyPr/>
          <a:lstStyle/>
          <a:p>
            <a:pPr marL="0" indent="0">
              <a:buNone/>
            </a:pPr>
            <a:r>
              <a:rPr lang="en-US" b="1" dirty="0"/>
              <a:t>Integration</a:t>
            </a:r>
          </a:p>
          <a:p>
            <a:r>
              <a:rPr lang="en-US" dirty="0"/>
              <a:t>Integration is concerned with how a system components are connected together. It means that the parts of the system work together within the system even if each part performs a unique function.</a:t>
            </a:r>
          </a:p>
          <a:p>
            <a:pPr marL="0" indent="0">
              <a:buNone/>
            </a:pPr>
            <a:r>
              <a:rPr lang="en-US" dirty="0"/>
              <a:t>C</a:t>
            </a:r>
            <a:r>
              <a:rPr lang="en-US" b="1" dirty="0"/>
              <a:t>entral Objective</a:t>
            </a:r>
          </a:p>
          <a:p>
            <a:r>
              <a:rPr lang="en-US" dirty="0"/>
              <a:t>The objective of system must be central. It may be real or stated. It is not uncommon for an organization to state an objective and operate to achieve another.</a:t>
            </a:r>
          </a:p>
          <a:p>
            <a:r>
              <a:rPr lang="en-US" dirty="0"/>
              <a:t>The users must know the main objective of a computer application early in the analysis for a successful design and conversion.</a:t>
            </a:r>
          </a:p>
          <a:p>
            <a:endParaRPr lang="en-US" dirty="0"/>
          </a:p>
        </p:txBody>
      </p:sp>
    </p:spTree>
    <p:extLst>
      <p:ext uri="{BB962C8B-B14F-4D97-AF65-F5344CB8AC3E}">
        <p14:creationId xmlns:p14="http://schemas.microsoft.com/office/powerpoint/2010/main" val="1572375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a Systems</a:t>
            </a:r>
          </a:p>
        </p:txBody>
      </p:sp>
      <p:sp>
        <p:nvSpPr>
          <p:cNvPr id="3" name="Content Placeholder 2"/>
          <p:cNvSpPr>
            <a:spLocks noGrp="1"/>
          </p:cNvSpPr>
          <p:nvPr>
            <p:ph idx="1"/>
          </p:nvPr>
        </p:nvSpPr>
        <p:spPr/>
        <p:txBody>
          <a:bodyPr>
            <a:normAutofit fontScale="92500"/>
          </a:bodyPr>
          <a:lstStyle/>
          <a:p>
            <a:pPr marL="0" indent="0">
              <a:buNone/>
            </a:pPr>
            <a:r>
              <a:rPr lang="en-US" b="1" dirty="0"/>
              <a:t>Outputs and Inputs</a:t>
            </a:r>
          </a:p>
          <a:p>
            <a:r>
              <a:rPr lang="en-US" dirty="0"/>
              <a:t>The main aim of a system is to produce an output which is useful for its user.</a:t>
            </a:r>
          </a:p>
          <a:p>
            <a:r>
              <a:rPr lang="en-US" dirty="0"/>
              <a:t>Inputs are the information that enters into the system for processing.</a:t>
            </a:r>
          </a:p>
          <a:p>
            <a:r>
              <a:rPr lang="en-US" dirty="0"/>
              <a:t>Output is the outcome of processing.</a:t>
            </a:r>
          </a:p>
          <a:p>
            <a:pPr marL="0" indent="0">
              <a:buNone/>
            </a:pPr>
            <a:r>
              <a:rPr lang="en-US" b="1" dirty="0"/>
              <a:t>Processor(s)</a:t>
            </a:r>
          </a:p>
          <a:p>
            <a:r>
              <a:rPr lang="en-US" dirty="0"/>
              <a:t>The processor is the element of a system that involves the actual transformation of input into output.</a:t>
            </a:r>
          </a:p>
          <a:p>
            <a:r>
              <a:rPr lang="en-US" dirty="0"/>
              <a:t>It is the operational component of a system. Processors may modify the input either totally or partially, depending on the output specification.</a:t>
            </a:r>
          </a:p>
          <a:p>
            <a:r>
              <a:rPr lang="en-US" dirty="0"/>
              <a:t>As the output specifications change, so does the processing. In some cases, input is also modified to enable the processor for handling the transformation.</a:t>
            </a:r>
          </a:p>
          <a:p>
            <a:endParaRPr lang="en-US" dirty="0"/>
          </a:p>
        </p:txBody>
      </p:sp>
    </p:spTree>
    <p:extLst>
      <p:ext uri="{BB962C8B-B14F-4D97-AF65-F5344CB8AC3E}">
        <p14:creationId xmlns:p14="http://schemas.microsoft.com/office/powerpoint/2010/main" val="2012667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a System</a:t>
            </a:r>
          </a:p>
        </p:txBody>
      </p:sp>
      <p:sp>
        <p:nvSpPr>
          <p:cNvPr id="3" name="Content Placeholder 2"/>
          <p:cNvSpPr>
            <a:spLocks noGrp="1"/>
          </p:cNvSpPr>
          <p:nvPr>
            <p:ph idx="1"/>
          </p:nvPr>
        </p:nvSpPr>
        <p:spPr>
          <a:xfrm>
            <a:off x="677334" y="1570385"/>
            <a:ext cx="8596668" cy="3880773"/>
          </a:xfrm>
        </p:spPr>
        <p:txBody>
          <a:bodyPr>
            <a:normAutofit fontScale="92500" lnSpcReduction="20000"/>
          </a:bodyPr>
          <a:lstStyle/>
          <a:p>
            <a:pPr marL="0" indent="0">
              <a:buNone/>
            </a:pPr>
            <a:r>
              <a:rPr lang="en-US" b="1" dirty="0"/>
              <a:t>Environment</a:t>
            </a:r>
          </a:p>
          <a:p>
            <a:r>
              <a:rPr lang="en-US" dirty="0"/>
              <a:t>The environment is the “</a:t>
            </a:r>
            <a:r>
              <a:rPr lang="en-US" dirty="0" err="1"/>
              <a:t>supersystem</a:t>
            </a:r>
            <a:r>
              <a:rPr lang="en-US" dirty="0"/>
              <a:t>” within which an organization operates.</a:t>
            </a:r>
          </a:p>
          <a:p>
            <a:r>
              <a:rPr lang="en-US" dirty="0"/>
              <a:t>It is the source of external elements that strike on the system.</a:t>
            </a:r>
          </a:p>
          <a:p>
            <a:r>
              <a:rPr lang="en-US" dirty="0"/>
              <a:t>It determines how a system must function. For example, vendors and competitors of organization’s environment, may provide constraints that affect the actual performance of the business.</a:t>
            </a:r>
          </a:p>
          <a:p>
            <a:pPr marL="0" indent="0">
              <a:buNone/>
            </a:pPr>
            <a:r>
              <a:rPr lang="en-US" b="1" dirty="0"/>
              <a:t>Boundaries and Interface</a:t>
            </a:r>
          </a:p>
          <a:p>
            <a:r>
              <a:rPr lang="en-US" dirty="0"/>
              <a:t>A system should be defined by its boundaries. Boundaries are the limits that identify its components, processes, and interrelationship when it interfaces with another system.</a:t>
            </a:r>
          </a:p>
          <a:p>
            <a:r>
              <a:rPr lang="en-US" dirty="0"/>
              <a:t>Each system has boundaries that determine its sphere of influence and control.</a:t>
            </a:r>
          </a:p>
          <a:p>
            <a:r>
              <a:rPr lang="en-US" dirty="0"/>
              <a:t>The knowledge of the boundaries of a given system is crucial in determining the nature of its interface with other systems for successful design.</a:t>
            </a:r>
          </a:p>
          <a:p>
            <a:endParaRPr lang="en-US" dirty="0"/>
          </a:p>
        </p:txBody>
      </p:sp>
    </p:spTree>
    <p:extLst>
      <p:ext uri="{BB962C8B-B14F-4D97-AF65-F5344CB8AC3E}">
        <p14:creationId xmlns:p14="http://schemas.microsoft.com/office/powerpoint/2010/main" val="4070772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a System</a:t>
            </a:r>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Control</a:t>
            </a:r>
          </a:p>
          <a:p>
            <a:r>
              <a:rPr lang="en-US" dirty="0"/>
              <a:t>The control element guides the system.</a:t>
            </a:r>
          </a:p>
          <a:p>
            <a:r>
              <a:rPr lang="en-US" dirty="0"/>
              <a:t>It is the decision–making subsystem that controls the pattern of activities governing input, processing, and output.</a:t>
            </a:r>
          </a:p>
          <a:p>
            <a:r>
              <a:rPr lang="en-US" dirty="0"/>
              <a:t>The behavior of a computer System is controlled by the Operating System and software. In order to keep system in balance, what and how much input is needed is determined by Output Specifications.</a:t>
            </a:r>
          </a:p>
          <a:p>
            <a:pPr marL="0" indent="0">
              <a:buNone/>
            </a:pPr>
            <a:r>
              <a:rPr lang="en-US" b="1" dirty="0"/>
              <a:t>Feedback</a:t>
            </a:r>
          </a:p>
          <a:p>
            <a:r>
              <a:rPr lang="en-US" dirty="0"/>
              <a:t>Feedback provides the control in a dynamic system.</a:t>
            </a:r>
          </a:p>
          <a:p>
            <a:r>
              <a:rPr lang="en-US" dirty="0"/>
              <a:t>Positive feedback is routine in nature that encourages the performance of the system.</a:t>
            </a:r>
          </a:p>
          <a:p>
            <a:r>
              <a:rPr lang="en-US" dirty="0"/>
              <a:t>Negative feedback is informational in nature that provides the controller with information for action.</a:t>
            </a:r>
          </a:p>
          <a:p>
            <a:endParaRPr lang="en-US" dirty="0"/>
          </a:p>
        </p:txBody>
      </p:sp>
    </p:spTree>
    <p:extLst>
      <p:ext uri="{BB962C8B-B14F-4D97-AF65-F5344CB8AC3E}">
        <p14:creationId xmlns:p14="http://schemas.microsoft.com/office/powerpoint/2010/main" val="3847297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Systems</a:t>
            </a:r>
          </a:p>
        </p:txBody>
      </p:sp>
      <p:sp>
        <p:nvSpPr>
          <p:cNvPr id="3" name="Content Placeholder 2"/>
          <p:cNvSpPr>
            <a:spLocks noGrp="1"/>
          </p:cNvSpPr>
          <p:nvPr>
            <p:ph idx="1"/>
          </p:nvPr>
        </p:nvSpPr>
        <p:spPr>
          <a:xfrm>
            <a:off x="677334" y="1570385"/>
            <a:ext cx="8596668" cy="4630910"/>
          </a:xfrm>
        </p:spPr>
        <p:txBody>
          <a:bodyPr>
            <a:normAutofit fontScale="92500" lnSpcReduction="10000"/>
          </a:bodyPr>
          <a:lstStyle/>
          <a:p>
            <a:pPr marL="0" indent="0">
              <a:buNone/>
            </a:pPr>
            <a:r>
              <a:rPr lang="en-US" dirty="0"/>
              <a:t>The systems can be divided into the following types −</a:t>
            </a:r>
          </a:p>
          <a:p>
            <a:pPr marL="0" indent="0">
              <a:buNone/>
            </a:pPr>
            <a:r>
              <a:rPr lang="en-US" b="1" dirty="0"/>
              <a:t>Physical or Abstract Systems</a:t>
            </a:r>
          </a:p>
          <a:p>
            <a:r>
              <a:rPr lang="en-US" dirty="0"/>
              <a:t>Physical systems are tangible entities. We can touch and feel them.</a:t>
            </a:r>
          </a:p>
          <a:p>
            <a:r>
              <a:rPr lang="en-US" dirty="0"/>
              <a:t>Physical System may be static or dynamic in nature. For example, desks and chairs are the physical parts of computer center which are static. A programmed computer is a dynamic system in which programs, data, and applications can change according to the user's needs.</a:t>
            </a:r>
          </a:p>
          <a:p>
            <a:r>
              <a:rPr lang="en-US" dirty="0"/>
              <a:t>Abstract systems are non-physical entities or conceptual that may be formulas, representation or model of a real system.</a:t>
            </a:r>
          </a:p>
          <a:p>
            <a:pPr marL="0" indent="0">
              <a:buNone/>
            </a:pPr>
            <a:r>
              <a:rPr lang="en-US" b="1" dirty="0"/>
              <a:t>Open or Closed Systems</a:t>
            </a:r>
          </a:p>
          <a:p>
            <a:r>
              <a:rPr lang="en-US" dirty="0"/>
              <a:t>An open system must interact with its environment. It receives inputs from and delivers outputs to the outside of the system. For example, an information system which must adapt to the changing environmental conditions.</a:t>
            </a:r>
          </a:p>
          <a:p>
            <a:r>
              <a:rPr lang="en-US" dirty="0"/>
              <a:t>A closed system does not interact with its environment. It is isolated from environmental influences. A completely closed system is rare in reality.</a:t>
            </a:r>
          </a:p>
          <a:p>
            <a:endParaRPr lang="en-US" dirty="0"/>
          </a:p>
        </p:txBody>
      </p:sp>
    </p:spTree>
    <p:extLst>
      <p:ext uri="{BB962C8B-B14F-4D97-AF65-F5344CB8AC3E}">
        <p14:creationId xmlns:p14="http://schemas.microsoft.com/office/powerpoint/2010/main" val="199061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Systems</a:t>
            </a:r>
          </a:p>
        </p:txBody>
      </p:sp>
      <p:sp>
        <p:nvSpPr>
          <p:cNvPr id="3" name="Content Placeholder 2"/>
          <p:cNvSpPr>
            <a:spLocks noGrp="1"/>
          </p:cNvSpPr>
          <p:nvPr>
            <p:ph idx="1"/>
          </p:nvPr>
        </p:nvSpPr>
        <p:spPr/>
        <p:txBody>
          <a:bodyPr>
            <a:normAutofit fontScale="85000" lnSpcReduction="10000"/>
          </a:bodyPr>
          <a:lstStyle/>
          <a:p>
            <a:pPr marL="0" indent="0">
              <a:buNone/>
            </a:pPr>
            <a:r>
              <a:rPr lang="en-US" b="1" dirty="0"/>
              <a:t>Adaptive and Non Adaptive System</a:t>
            </a:r>
          </a:p>
          <a:p>
            <a:r>
              <a:rPr lang="en-US" dirty="0"/>
              <a:t>Adaptive System responds to the change in the environment in a way to improve their performance and to survive. For example, human beings, animals.</a:t>
            </a:r>
          </a:p>
          <a:p>
            <a:r>
              <a:rPr lang="en-US" dirty="0"/>
              <a:t>Non Adaptive System is the system which does not respond to the environment. For example, machines.</a:t>
            </a:r>
          </a:p>
          <a:p>
            <a:pPr marL="0" indent="0">
              <a:buNone/>
            </a:pPr>
            <a:r>
              <a:rPr lang="en-US" b="1" dirty="0"/>
              <a:t>Permanent or Temporary System</a:t>
            </a:r>
          </a:p>
          <a:p>
            <a:r>
              <a:rPr lang="en-US" dirty="0"/>
              <a:t>Permanent System persists for long time. For example, business policies.</a:t>
            </a:r>
          </a:p>
          <a:p>
            <a:r>
              <a:rPr lang="en-US" dirty="0"/>
              <a:t>Temporary System is made for specified time and after that they are demolished. For example, A DJ system is set up for a program and it is dissembled after the program.</a:t>
            </a:r>
          </a:p>
          <a:p>
            <a:pPr marL="0" indent="0">
              <a:buNone/>
            </a:pPr>
            <a:r>
              <a:rPr lang="en-US" b="1" dirty="0"/>
              <a:t>Natural and Manufactured System</a:t>
            </a:r>
          </a:p>
          <a:p>
            <a:r>
              <a:rPr lang="en-US" dirty="0"/>
              <a:t>Natural systems are created by the nature. For example, Solar system, seasonal system.</a:t>
            </a:r>
          </a:p>
          <a:p>
            <a:r>
              <a:rPr lang="en-US" dirty="0"/>
              <a:t>Manufactured System is the man-made system. For example, Rockets, dams, trains.</a:t>
            </a:r>
          </a:p>
          <a:p>
            <a:endParaRPr lang="en-US" dirty="0"/>
          </a:p>
        </p:txBody>
      </p:sp>
    </p:spTree>
    <p:extLst>
      <p:ext uri="{BB962C8B-B14F-4D97-AF65-F5344CB8AC3E}">
        <p14:creationId xmlns:p14="http://schemas.microsoft.com/office/powerpoint/2010/main" val="3677975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Systems</a:t>
            </a:r>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Deterministic or Probabilistic System</a:t>
            </a:r>
          </a:p>
          <a:p>
            <a:r>
              <a:rPr lang="en-US" dirty="0"/>
              <a:t>Deterministic system operates in a predictable manner and the interaction between system components is known with certainty. For example, two molecules of hydrogen and one molecule of oxygen makes water.</a:t>
            </a:r>
          </a:p>
          <a:p>
            <a:r>
              <a:rPr lang="en-US" dirty="0"/>
              <a:t>Probabilistic System shows uncertain behavior. The exact output is not known. For example, Weather forecasting, mail delivery.</a:t>
            </a:r>
          </a:p>
          <a:p>
            <a:pPr marL="0" indent="0">
              <a:buNone/>
            </a:pPr>
            <a:r>
              <a:rPr lang="en-US" b="1" dirty="0"/>
              <a:t>Social, Human-Machine, Machine System</a:t>
            </a:r>
          </a:p>
          <a:p>
            <a:r>
              <a:rPr lang="en-US" dirty="0"/>
              <a:t>Social System is made up of people. For example, social clubs, societies.</a:t>
            </a:r>
          </a:p>
          <a:p>
            <a:r>
              <a:rPr lang="en-US" dirty="0"/>
              <a:t>In Human-Machine System, both human and machines are involved to perform a particular task. For example, Computer programming.</a:t>
            </a:r>
          </a:p>
          <a:p>
            <a:r>
              <a:rPr lang="en-US" dirty="0"/>
              <a:t>Machine System is where human interference is neglected. All the tasks are performed by the machine. For example, an autonomous robot.</a:t>
            </a:r>
          </a:p>
          <a:p>
            <a:endParaRPr lang="en-US" dirty="0"/>
          </a:p>
        </p:txBody>
      </p:sp>
    </p:spTree>
    <p:extLst>
      <p:ext uri="{BB962C8B-B14F-4D97-AF65-F5344CB8AC3E}">
        <p14:creationId xmlns:p14="http://schemas.microsoft.com/office/powerpoint/2010/main" val="2933025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Systems</a:t>
            </a:r>
          </a:p>
        </p:txBody>
      </p:sp>
      <p:sp>
        <p:nvSpPr>
          <p:cNvPr id="3" name="Content Placeholder 2"/>
          <p:cNvSpPr>
            <a:spLocks noGrp="1"/>
          </p:cNvSpPr>
          <p:nvPr>
            <p:ph idx="1"/>
          </p:nvPr>
        </p:nvSpPr>
        <p:spPr/>
        <p:txBody>
          <a:bodyPr>
            <a:normAutofit lnSpcReduction="10000"/>
          </a:bodyPr>
          <a:lstStyle/>
          <a:p>
            <a:pPr marL="0" indent="0">
              <a:buNone/>
            </a:pPr>
            <a:r>
              <a:rPr lang="en-US" b="1" dirty="0"/>
              <a:t>Man–Made Information Systems</a:t>
            </a:r>
          </a:p>
          <a:p>
            <a:r>
              <a:rPr lang="en-US" dirty="0"/>
              <a:t>It is an interconnected set of information resources to manage data for particular organization, under Direct Management Control (DMC).</a:t>
            </a:r>
          </a:p>
          <a:p>
            <a:r>
              <a:rPr lang="en-US" dirty="0"/>
              <a:t>This system includes hardware, software, communication, data, and application for producing information according to the need of an organization.</a:t>
            </a:r>
          </a:p>
          <a:p>
            <a:pPr lvl="1"/>
            <a:r>
              <a:rPr lang="en-US" b="1" dirty="0"/>
              <a:t>Formal Information System</a:t>
            </a:r>
            <a:r>
              <a:rPr lang="en-US" dirty="0"/>
              <a:t> − It is based on the flow of information in the form of memos, instructions, etc., from top level to lower levels of management.</a:t>
            </a:r>
          </a:p>
          <a:p>
            <a:pPr lvl="1"/>
            <a:r>
              <a:rPr lang="en-US" b="1" dirty="0"/>
              <a:t>Informal Information System</a:t>
            </a:r>
            <a:r>
              <a:rPr lang="en-US" dirty="0"/>
              <a:t> − This is employee based system which solves the day to day work related problems.</a:t>
            </a:r>
          </a:p>
          <a:p>
            <a:pPr lvl="1"/>
            <a:r>
              <a:rPr lang="en-US" b="1" dirty="0"/>
              <a:t>Computer Based System</a:t>
            </a:r>
            <a:r>
              <a:rPr lang="en-US" dirty="0"/>
              <a:t> − This system is directly dependent on the computer for managing business applications. For example, automatic library system, railway reservation system, banking system, etc.</a:t>
            </a:r>
          </a:p>
          <a:p>
            <a:endParaRPr lang="en-US" dirty="0"/>
          </a:p>
        </p:txBody>
      </p:sp>
    </p:spTree>
    <p:extLst>
      <p:ext uri="{BB962C8B-B14F-4D97-AF65-F5344CB8AC3E}">
        <p14:creationId xmlns:p14="http://schemas.microsoft.com/office/powerpoint/2010/main" val="3628436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Models</a:t>
            </a:r>
          </a:p>
        </p:txBody>
      </p:sp>
      <p:sp>
        <p:nvSpPr>
          <p:cNvPr id="3" name="Content Placeholder 2"/>
          <p:cNvSpPr>
            <a:spLocks noGrp="1"/>
          </p:cNvSpPr>
          <p:nvPr>
            <p:ph idx="1"/>
          </p:nvPr>
        </p:nvSpPr>
        <p:spPr/>
        <p:txBody>
          <a:bodyPr>
            <a:normAutofit/>
          </a:bodyPr>
          <a:lstStyle/>
          <a:p>
            <a:pPr marL="0" indent="0">
              <a:buNone/>
            </a:pPr>
            <a:r>
              <a:rPr lang="en-US" b="1" dirty="0"/>
              <a:t>Schematic Models</a:t>
            </a:r>
          </a:p>
          <a:p>
            <a:r>
              <a:rPr lang="en-US" dirty="0"/>
              <a:t>A schematic model is a 2-D chart that shows system elements and their linkages.</a:t>
            </a:r>
          </a:p>
          <a:p>
            <a:r>
              <a:rPr lang="en-US" dirty="0"/>
              <a:t>Different arrows are used to show information flow, material flow, and information feedback.</a:t>
            </a:r>
          </a:p>
          <a:p>
            <a:pPr marL="0" indent="0">
              <a:buNone/>
            </a:pPr>
            <a:r>
              <a:rPr lang="en-US" b="1" dirty="0"/>
              <a:t>Flow System Models</a:t>
            </a:r>
          </a:p>
          <a:p>
            <a:r>
              <a:rPr lang="en-US" dirty="0"/>
              <a:t>A flow system model shows the orderly flow of the material, energy, and information that hold the system together.</a:t>
            </a:r>
          </a:p>
          <a:p>
            <a:r>
              <a:rPr lang="en-US" dirty="0"/>
              <a:t>Program Evaluation and Review Technique (PERT), for example, is used to abstract a real world system in model form.</a:t>
            </a:r>
          </a:p>
          <a:p>
            <a:endParaRPr lang="en-US" dirty="0"/>
          </a:p>
        </p:txBody>
      </p:sp>
    </p:spTree>
    <p:extLst>
      <p:ext uri="{BB962C8B-B14F-4D97-AF65-F5344CB8AC3E}">
        <p14:creationId xmlns:p14="http://schemas.microsoft.com/office/powerpoint/2010/main" val="680186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Models</a:t>
            </a:r>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Static System Models</a:t>
            </a:r>
          </a:p>
          <a:p>
            <a:r>
              <a:rPr lang="en-US" dirty="0"/>
              <a:t>They represent one pair of relationships such as </a:t>
            </a:r>
            <a:r>
              <a:rPr lang="en-US" i="1" dirty="0"/>
              <a:t>activity–time</a:t>
            </a:r>
            <a:r>
              <a:rPr lang="en-US" dirty="0"/>
              <a:t> or </a:t>
            </a:r>
            <a:r>
              <a:rPr lang="en-US" i="1" dirty="0"/>
              <a:t>cost–quantity</a:t>
            </a:r>
            <a:r>
              <a:rPr lang="en-US" dirty="0"/>
              <a:t>.</a:t>
            </a:r>
          </a:p>
          <a:p>
            <a:r>
              <a:rPr lang="en-US" dirty="0"/>
              <a:t>The Gantt chart, for example, gives a static picture of an activity-time relationship.</a:t>
            </a:r>
          </a:p>
          <a:p>
            <a:pPr marL="0" indent="0">
              <a:buNone/>
            </a:pPr>
            <a:r>
              <a:rPr lang="en-US" b="1" dirty="0"/>
              <a:t>Dynamic System Models</a:t>
            </a:r>
          </a:p>
          <a:p>
            <a:r>
              <a:rPr lang="en-US" dirty="0"/>
              <a:t>Business organizations are dynamic systems. A dynamic model approximates the type of organization or application that analysts deal with.</a:t>
            </a:r>
          </a:p>
          <a:p>
            <a:r>
              <a:rPr lang="en-US" dirty="0"/>
              <a:t>It shows an ongoing, constantly changing status of the system. It consists of −</a:t>
            </a:r>
          </a:p>
          <a:p>
            <a:pPr lvl="1"/>
            <a:r>
              <a:rPr lang="en-US" dirty="0"/>
              <a:t>Inputs that enter the system</a:t>
            </a:r>
          </a:p>
          <a:p>
            <a:pPr lvl="1"/>
            <a:r>
              <a:rPr lang="en-US" dirty="0"/>
              <a:t>The processor through which transformation takes place</a:t>
            </a:r>
          </a:p>
          <a:p>
            <a:pPr lvl="1"/>
            <a:r>
              <a:rPr lang="en-US" dirty="0"/>
              <a:t>The program(s) required for processing</a:t>
            </a:r>
          </a:p>
          <a:p>
            <a:pPr lvl="1"/>
            <a:r>
              <a:rPr lang="en-US" dirty="0"/>
              <a:t>The output(s) that result from processing.</a:t>
            </a:r>
          </a:p>
          <a:p>
            <a:endParaRPr lang="en-US" dirty="0"/>
          </a:p>
        </p:txBody>
      </p:sp>
    </p:spTree>
    <p:extLst>
      <p:ext uri="{BB962C8B-B14F-4D97-AF65-F5344CB8AC3E}">
        <p14:creationId xmlns:p14="http://schemas.microsoft.com/office/powerpoint/2010/main" val="3748236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Categories of Information</a:t>
            </a:r>
          </a:p>
        </p:txBody>
      </p:sp>
      <p:sp>
        <p:nvSpPr>
          <p:cNvPr id="3" name="Content Placeholder 2"/>
          <p:cNvSpPr>
            <a:spLocks noGrp="1"/>
          </p:cNvSpPr>
          <p:nvPr>
            <p:ph idx="1"/>
          </p:nvPr>
        </p:nvSpPr>
        <p:spPr/>
        <p:txBody>
          <a:bodyPr>
            <a:normAutofit fontScale="85000" lnSpcReduction="20000"/>
          </a:bodyPr>
          <a:lstStyle/>
          <a:p>
            <a:pPr marL="0" indent="0">
              <a:buNone/>
            </a:pPr>
            <a:r>
              <a:rPr lang="en-US" b="1" dirty="0"/>
              <a:t>Strategic Information</a:t>
            </a:r>
          </a:p>
          <a:p>
            <a:r>
              <a:rPr lang="en-US" dirty="0"/>
              <a:t>This information is required by topmost management for long range planning policies for next few years. For example, trends in revenues, financial investment, and human resources, and population growth.</a:t>
            </a:r>
          </a:p>
          <a:p>
            <a:r>
              <a:rPr lang="en-US" dirty="0"/>
              <a:t>This type of information is achieved with the aid of Decision Support System (DSS).</a:t>
            </a:r>
          </a:p>
          <a:p>
            <a:pPr marL="0" indent="0">
              <a:buNone/>
            </a:pPr>
            <a:r>
              <a:rPr lang="en-US" b="1" dirty="0"/>
              <a:t>Managerial Information</a:t>
            </a:r>
          </a:p>
          <a:p>
            <a:r>
              <a:rPr lang="en-US" dirty="0"/>
              <a:t>This type of Information is required by middle management for short and intermediate range planning which is in terms of months. For example, sales analysis, cash flow projection, and annual financial statements.</a:t>
            </a:r>
          </a:p>
          <a:p>
            <a:r>
              <a:rPr lang="en-US" dirty="0"/>
              <a:t>It is achieved with the aid of Management Information Systems (MIS).</a:t>
            </a:r>
          </a:p>
          <a:p>
            <a:pPr marL="0" indent="0">
              <a:buNone/>
            </a:pPr>
            <a:r>
              <a:rPr lang="en-US" b="1" dirty="0"/>
              <a:t>Operational information</a:t>
            </a:r>
          </a:p>
          <a:p>
            <a:r>
              <a:rPr lang="en-US" dirty="0"/>
              <a:t>This type of information is required by low management for daily and short term planning to enforce day-to-day operational activities. For example, keeping employee attendance records, overdue purchase orders, and current stocks available.</a:t>
            </a:r>
          </a:p>
          <a:p>
            <a:r>
              <a:rPr lang="en-US" dirty="0"/>
              <a:t>It is achieved with the aid of Data Processing Systems (DPS).</a:t>
            </a:r>
          </a:p>
          <a:p>
            <a:endParaRPr lang="en-US" dirty="0"/>
          </a:p>
        </p:txBody>
      </p:sp>
    </p:spTree>
    <p:extLst>
      <p:ext uri="{BB962C8B-B14F-4D97-AF65-F5344CB8AC3E}">
        <p14:creationId xmlns:p14="http://schemas.microsoft.com/office/powerpoint/2010/main" val="739196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Analysis</a:t>
            </a:r>
          </a:p>
        </p:txBody>
      </p:sp>
      <p:sp>
        <p:nvSpPr>
          <p:cNvPr id="3" name="Content Placeholder 2"/>
          <p:cNvSpPr>
            <a:spLocks noGrp="1"/>
          </p:cNvSpPr>
          <p:nvPr>
            <p:ph idx="1"/>
          </p:nvPr>
        </p:nvSpPr>
        <p:spPr/>
        <p:txBody>
          <a:bodyPr>
            <a:normAutofit fontScale="85000" lnSpcReduction="20000"/>
          </a:bodyPr>
          <a:lstStyle/>
          <a:p>
            <a:r>
              <a:rPr lang="en-US" dirty="0"/>
              <a:t>System Analysis</a:t>
            </a:r>
          </a:p>
          <a:p>
            <a:r>
              <a:rPr lang="en-US" dirty="0"/>
              <a:t>System analysis is the initial phase of a software development project where the requirements of the system are gathered, analyzed, and documented. It involves understanding the problem domain, identifying the stakeholders, and defining the scope and objectives of the system.</a:t>
            </a:r>
          </a:p>
          <a:p>
            <a:r>
              <a:rPr lang="en-US" dirty="0"/>
              <a:t>Key Activities in System Analysis</a:t>
            </a:r>
          </a:p>
          <a:p>
            <a:r>
              <a:rPr lang="en-US" b="1" dirty="0"/>
              <a:t>Requirement Gathering</a:t>
            </a:r>
            <a:r>
              <a:rPr lang="en-US" dirty="0"/>
              <a:t>− Identifying the needs and expectations of the users and stakeholders.</a:t>
            </a:r>
          </a:p>
          <a:p>
            <a:r>
              <a:rPr lang="en-US" b="1" dirty="0"/>
              <a:t>Requirement Analysis</a:t>
            </a:r>
            <a:r>
              <a:rPr lang="en-US" dirty="0"/>
              <a:t>− Analyzing the gathered requirements to ensure consistency, feasibility, and completeness.</a:t>
            </a:r>
          </a:p>
          <a:p>
            <a:r>
              <a:rPr lang="en-US" b="1" dirty="0"/>
              <a:t>Feasibility Study</a:t>
            </a:r>
            <a:r>
              <a:rPr lang="en-US" dirty="0"/>
              <a:t>− Assessing the technical, economic, and operational feasibility of the proposed system.</a:t>
            </a:r>
          </a:p>
          <a:p>
            <a:r>
              <a:rPr lang="en-US" b="1" dirty="0"/>
              <a:t>Process Modelling</a:t>
            </a:r>
            <a:r>
              <a:rPr lang="en-US" dirty="0"/>
              <a:t>− Creating diagrams and models to represent the current and proposed business processes.</a:t>
            </a:r>
          </a:p>
          <a:p>
            <a:r>
              <a:rPr lang="en-US" b="1" dirty="0"/>
              <a:t>Data Modelling</a:t>
            </a:r>
            <a:r>
              <a:rPr lang="en-US" dirty="0"/>
              <a:t>− Defining the data entities, attributes, and relationships within the system.</a:t>
            </a:r>
          </a:p>
          <a:p>
            <a:endParaRPr lang="en-US" dirty="0"/>
          </a:p>
        </p:txBody>
      </p:sp>
    </p:spTree>
    <p:extLst>
      <p:ext uri="{BB962C8B-B14F-4D97-AF65-F5344CB8AC3E}">
        <p14:creationId xmlns:p14="http://schemas.microsoft.com/office/powerpoint/2010/main" val="3508125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Analysis</a:t>
            </a:r>
          </a:p>
        </p:txBody>
      </p:sp>
      <p:sp>
        <p:nvSpPr>
          <p:cNvPr id="3" name="Content Placeholder 2"/>
          <p:cNvSpPr>
            <a:spLocks noGrp="1"/>
          </p:cNvSpPr>
          <p:nvPr>
            <p:ph idx="1"/>
          </p:nvPr>
        </p:nvSpPr>
        <p:spPr/>
        <p:txBody>
          <a:bodyPr/>
          <a:lstStyle/>
          <a:p>
            <a:pPr marL="0" indent="0">
              <a:buNone/>
            </a:pPr>
            <a:r>
              <a:rPr lang="en-US" dirty="0"/>
              <a:t>Techniques Used in System Analysis</a:t>
            </a:r>
          </a:p>
          <a:p>
            <a:r>
              <a:rPr lang="en-US" b="1" dirty="0"/>
              <a:t>Interviews</a:t>
            </a:r>
            <a:r>
              <a:rPr lang="en-US" dirty="0"/>
              <a:t>− Gathering information from stakeholders through face-to-face or online interviews.</a:t>
            </a:r>
          </a:p>
          <a:p>
            <a:r>
              <a:rPr lang="en-US" b="1" dirty="0"/>
              <a:t>Surveys</a:t>
            </a:r>
            <a:r>
              <a:rPr lang="en-US" dirty="0"/>
              <a:t>− Collecting data from a large number of respondents using questionnaires.</a:t>
            </a:r>
          </a:p>
          <a:p>
            <a:r>
              <a:rPr lang="en-US" b="1" dirty="0"/>
              <a:t>Observation</a:t>
            </a:r>
            <a:r>
              <a:rPr lang="en-US" dirty="0"/>
              <a:t>− Observing the current system in operation to understand its processes and workflows.</a:t>
            </a:r>
          </a:p>
          <a:p>
            <a:r>
              <a:rPr lang="en-US" b="1" dirty="0"/>
              <a:t>Document Analysis</a:t>
            </a:r>
            <a:r>
              <a:rPr lang="en-US" dirty="0"/>
              <a:t>− Examining existing documents, reports, and manuals.</a:t>
            </a:r>
          </a:p>
          <a:p>
            <a:r>
              <a:rPr lang="en-US" b="1" dirty="0"/>
              <a:t>Prototyping</a:t>
            </a:r>
            <a:r>
              <a:rPr lang="en-US" dirty="0"/>
              <a:t>− Creating simplified models or mock-up’s of the system to gather feedback and refine requirements.</a:t>
            </a:r>
          </a:p>
          <a:p>
            <a:endParaRPr lang="en-US" dirty="0"/>
          </a:p>
        </p:txBody>
      </p:sp>
    </p:spTree>
    <p:extLst>
      <p:ext uri="{BB962C8B-B14F-4D97-AF65-F5344CB8AC3E}">
        <p14:creationId xmlns:p14="http://schemas.microsoft.com/office/powerpoint/2010/main" val="2664988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Design</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System design is the subsequent phase where the detailed specifications of the system are developed. It involves designing the architecture, components, interfaces, and data structures that will implement the requirements defined in the analysis phase.</a:t>
            </a:r>
          </a:p>
          <a:p>
            <a:pPr marL="0" indent="0">
              <a:buNone/>
            </a:pPr>
            <a:r>
              <a:rPr lang="en-US" dirty="0"/>
              <a:t>Key Activities in System Design</a:t>
            </a:r>
          </a:p>
          <a:p>
            <a:r>
              <a:rPr lang="en-US" b="1" dirty="0"/>
              <a:t>Architectural Design</a:t>
            </a:r>
            <a:r>
              <a:rPr lang="en-US" dirty="0"/>
              <a:t>− Determining the overall structure and components of the system.</a:t>
            </a:r>
          </a:p>
          <a:p>
            <a:r>
              <a:rPr lang="en-US" b="1" dirty="0"/>
              <a:t>Component Design</a:t>
            </a:r>
            <a:r>
              <a:rPr lang="en-US" dirty="0"/>
              <a:t>− Designing individual components and their interactions.</a:t>
            </a:r>
          </a:p>
          <a:p>
            <a:r>
              <a:rPr lang="en-US" b="1" dirty="0"/>
              <a:t>Interface Design</a:t>
            </a:r>
            <a:r>
              <a:rPr lang="en-US" dirty="0"/>
              <a:t>− Specifying the interfaces between components and with external systems.</a:t>
            </a:r>
          </a:p>
          <a:p>
            <a:r>
              <a:rPr lang="en-US" b="1" dirty="0"/>
              <a:t>Data Design</a:t>
            </a:r>
            <a:r>
              <a:rPr lang="en-US" dirty="0"/>
              <a:t>− Designing the database schema and data structures.</a:t>
            </a:r>
          </a:p>
          <a:p>
            <a:r>
              <a:rPr lang="en-US" b="1" dirty="0"/>
              <a:t>Detailed Design</a:t>
            </a:r>
            <a:r>
              <a:rPr lang="en-US" dirty="0"/>
              <a:t>− Creating detailed specifications for each component, including algorithms and data flow.</a:t>
            </a:r>
          </a:p>
          <a:p>
            <a:endParaRPr lang="en-US" dirty="0"/>
          </a:p>
        </p:txBody>
      </p:sp>
    </p:spTree>
    <p:extLst>
      <p:ext uri="{BB962C8B-B14F-4D97-AF65-F5344CB8AC3E}">
        <p14:creationId xmlns:p14="http://schemas.microsoft.com/office/powerpoint/2010/main" val="3706102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Design</a:t>
            </a:r>
          </a:p>
        </p:txBody>
      </p:sp>
      <p:sp>
        <p:nvSpPr>
          <p:cNvPr id="3" name="Content Placeholder 2"/>
          <p:cNvSpPr>
            <a:spLocks noGrp="1"/>
          </p:cNvSpPr>
          <p:nvPr>
            <p:ph idx="1"/>
          </p:nvPr>
        </p:nvSpPr>
        <p:spPr/>
        <p:txBody>
          <a:bodyPr>
            <a:normAutofit/>
          </a:bodyPr>
          <a:lstStyle/>
          <a:p>
            <a:pPr marL="0" lvl="0" indent="0" defTabSz="914400" eaLnBrk="0" fontAlgn="base" hangingPunct="0">
              <a:spcBef>
                <a:spcPct val="0"/>
              </a:spcBef>
              <a:spcAft>
                <a:spcPct val="0"/>
              </a:spcAft>
              <a:buClrTx/>
              <a:buSzTx/>
              <a:buNone/>
            </a:pPr>
            <a:r>
              <a:rPr lang="en-US" altLang="en-US" sz="2400" dirty="0">
                <a:solidFill>
                  <a:schemeClr val="tx1"/>
                </a:solidFill>
                <a:latin typeface="Verdana" panose="020B0604030504040204" pitchFamily="34" charset="0"/>
              </a:rPr>
              <a:t>Techniques Used in System Design</a:t>
            </a:r>
          </a:p>
          <a:p>
            <a:pPr marL="0" lvl="0" indent="0" defTabSz="914400" eaLnBrk="0" fontAlgn="base" hangingPunct="0">
              <a:spcBef>
                <a:spcPct val="0"/>
              </a:spcBef>
              <a:spcAft>
                <a:spcPct val="0"/>
              </a:spcAft>
              <a:buClrTx/>
              <a:buSzTx/>
              <a:buFontTx/>
              <a:buChar char="•"/>
            </a:pPr>
            <a:r>
              <a:rPr lang="en-US" altLang="en-US" b="1" dirty="0">
                <a:solidFill>
                  <a:srgbClr val="000000"/>
                </a:solidFill>
                <a:latin typeface="inherit"/>
              </a:rPr>
              <a:t>Unified Modelling Language (UML)</a:t>
            </a:r>
            <a:r>
              <a:rPr lang="en-US" altLang="en-US" dirty="0">
                <a:solidFill>
                  <a:srgbClr val="000000"/>
                </a:solidFill>
                <a:latin typeface="Verdana" panose="020B0604030504040204" pitchFamily="34" charset="0"/>
              </a:rPr>
              <a:t>− A standardized modelling language used to visualize, specify, construct, and document software systems.</a:t>
            </a:r>
          </a:p>
          <a:p>
            <a:pPr marL="0" lvl="0" indent="0" defTabSz="914400" eaLnBrk="0" fontAlgn="base" hangingPunct="0">
              <a:spcBef>
                <a:spcPct val="0"/>
              </a:spcBef>
              <a:spcAft>
                <a:spcPct val="0"/>
              </a:spcAft>
              <a:buClrTx/>
              <a:buSzTx/>
              <a:buFontTx/>
              <a:buChar char="•"/>
            </a:pPr>
            <a:r>
              <a:rPr lang="en-US" altLang="en-US" b="1" dirty="0">
                <a:solidFill>
                  <a:srgbClr val="000000"/>
                </a:solidFill>
                <a:latin typeface="inherit"/>
              </a:rPr>
              <a:t>Data Flow Diagrams (DFDs)</a:t>
            </a:r>
            <a:r>
              <a:rPr lang="en-US" altLang="en-US" dirty="0">
                <a:solidFill>
                  <a:srgbClr val="000000"/>
                </a:solidFill>
                <a:latin typeface="Verdana" panose="020B0604030504040204" pitchFamily="34" charset="0"/>
              </a:rPr>
              <a:t>− Diagrams that illustrate the flow of data through a system.</a:t>
            </a:r>
          </a:p>
          <a:p>
            <a:pPr marL="0" lvl="0" indent="0" defTabSz="914400" eaLnBrk="0" fontAlgn="base" hangingPunct="0">
              <a:spcBef>
                <a:spcPct val="0"/>
              </a:spcBef>
              <a:spcAft>
                <a:spcPct val="0"/>
              </a:spcAft>
              <a:buClrTx/>
              <a:buSzTx/>
              <a:buFontTx/>
              <a:buChar char="•"/>
            </a:pPr>
            <a:r>
              <a:rPr lang="en-US" altLang="en-US" b="1" dirty="0">
                <a:solidFill>
                  <a:srgbClr val="000000"/>
                </a:solidFill>
                <a:latin typeface="inherit"/>
              </a:rPr>
              <a:t>Entity-Relationship Diagrams (ERDs)</a:t>
            </a:r>
            <a:r>
              <a:rPr lang="en-US" altLang="en-US" dirty="0">
                <a:solidFill>
                  <a:srgbClr val="000000"/>
                </a:solidFill>
                <a:latin typeface="Verdana" panose="020B0604030504040204" pitchFamily="34" charset="0"/>
              </a:rPr>
              <a:t>− Diagrams that represent the entities and relationships between them in a database.</a:t>
            </a:r>
          </a:p>
          <a:p>
            <a:pPr marL="0" lvl="0" indent="0" defTabSz="914400" eaLnBrk="0" fontAlgn="base" hangingPunct="0">
              <a:spcBef>
                <a:spcPct val="0"/>
              </a:spcBef>
              <a:spcAft>
                <a:spcPct val="0"/>
              </a:spcAft>
              <a:buClrTx/>
              <a:buSzTx/>
              <a:buFontTx/>
              <a:buChar char="•"/>
            </a:pPr>
            <a:r>
              <a:rPr lang="en-US" altLang="en-US" b="1" dirty="0">
                <a:solidFill>
                  <a:srgbClr val="000000"/>
                </a:solidFill>
                <a:latin typeface="inherit"/>
              </a:rPr>
              <a:t>Decision Trees</a:t>
            </a:r>
            <a:r>
              <a:rPr lang="en-US" altLang="en-US" dirty="0">
                <a:solidFill>
                  <a:srgbClr val="000000"/>
                </a:solidFill>
                <a:latin typeface="Verdana" panose="020B0604030504040204" pitchFamily="34" charset="0"/>
              </a:rPr>
              <a:t>− Diagrams that show the possible outcomes and decisions in a process.</a:t>
            </a:r>
          </a:p>
          <a:p>
            <a:pPr marL="0" lvl="0" indent="0" defTabSz="914400" eaLnBrk="0" fontAlgn="base" hangingPunct="0">
              <a:spcBef>
                <a:spcPct val="0"/>
              </a:spcBef>
              <a:spcAft>
                <a:spcPct val="0"/>
              </a:spcAft>
              <a:buClrTx/>
              <a:buSzTx/>
              <a:buFontTx/>
              <a:buChar char="•"/>
            </a:pPr>
            <a:r>
              <a:rPr lang="en-US" altLang="en-US" b="1" dirty="0">
                <a:solidFill>
                  <a:srgbClr val="000000"/>
                </a:solidFill>
                <a:latin typeface="inherit"/>
              </a:rPr>
              <a:t>State Transition Diagrams</a:t>
            </a:r>
            <a:r>
              <a:rPr lang="en-US" altLang="en-US" dirty="0">
                <a:solidFill>
                  <a:srgbClr val="000000"/>
                </a:solidFill>
                <a:latin typeface="Verdana" panose="020B0604030504040204" pitchFamily="34" charset="0"/>
              </a:rPr>
              <a:t>− Diagrams that represent the different states a system can be in and the transitions between them.</a:t>
            </a:r>
          </a:p>
          <a:p>
            <a:pPr marL="0" lvl="0" indent="0" defTabSz="914400" eaLnBrk="0" fontAlgn="base" hangingPunct="0">
              <a:spcBef>
                <a:spcPct val="0"/>
              </a:spcBef>
              <a:spcAft>
                <a:spcPct val="0"/>
              </a:spcAft>
              <a:buClrTx/>
              <a:buSzTx/>
              <a:buNone/>
            </a:pPr>
            <a:br>
              <a:rPr lang="en-US" altLang="en-US" sz="1050" dirty="0">
                <a:solidFill>
                  <a:schemeClr val="tx1"/>
                </a:solidFill>
              </a:rPr>
            </a:br>
            <a:endParaRPr lang="en-US" altLang="en-US" sz="2800" dirty="0">
              <a:solidFill>
                <a:schemeClr val="tx1"/>
              </a:solidFill>
              <a:latin typeface="Arial" panose="020B0604020202020204" pitchFamily="34" charset="0"/>
            </a:endParaRPr>
          </a:p>
          <a:p>
            <a:endParaRPr lang="en-US" dirty="0"/>
          </a:p>
        </p:txBody>
      </p:sp>
    </p:spTree>
    <p:extLst>
      <p:ext uri="{BB962C8B-B14F-4D97-AF65-F5344CB8AC3E}">
        <p14:creationId xmlns:p14="http://schemas.microsoft.com/office/powerpoint/2010/main" val="1024147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SDLC</a:t>
            </a:r>
          </a:p>
        </p:txBody>
      </p:sp>
      <p:sp>
        <p:nvSpPr>
          <p:cNvPr id="3" name="Content Placeholder 2"/>
          <p:cNvSpPr>
            <a:spLocks noGrp="1"/>
          </p:cNvSpPr>
          <p:nvPr>
            <p:ph idx="1"/>
          </p:nvPr>
        </p:nvSpPr>
        <p:spPr/>
        <p:txBody>
          <a:bodyPr>
            <a:normAutofit/>
          </a:bodyPr>
          <a:lstStyle/>
          <a:p>
            <a:r>
              <a:rPr lang="en-US" dirty="0"/>
              <a:t>An effective System Development Life Cycle (SDLC) should result in a high quality system that meets customer expectations, reaches completion within time and cost evaluations, and works effectively and efficiently in the current and planned Information Technology infrastructure.</a:t>
            </a:r>
          </a:p>
          <a:p>
            <a:r>
              <a:rPr lang="en-US" dirty="0"/>
              <a:t>System Development Life Cycle (SDLC) is a conceptual model which includes policies and procedures for developing or altering systems throughout their life cycles.</a:t>
            </a:r>
          </a:p>
          <a:p>
            <a:endParaRPr lang="en-US" dirty="0"/>
          </a:p>
        </p:txBody>
      </p:sp>
    </p:spTree>
    <p:extLst>
      <p:ext uri="{BB962C8B-B14F-4D97-AF65-F5344CB8AC3E}">
        <p14:creationId xmlns:p14="http://schemas.microsoft.com/office/powerpoint/2010/main" val="39068865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SDLC</a:t>
            </a:r>
          </a:p>
        </p:txBody>
      </p:sp>
      <p:sp>
        <p:nvSpPr>
          <p:cNvPr id="3" name="Content Placeholder 2"/>
          <p:cNvSpPr>
            <a:spLocks noGrp="1"/>
          </p:cNvSpPr>
          <p:nvPr>
            <p:ph idx="1"/>
          </p:nvPr>
        </p:nvSpPr>
        <p:spPr/>
        <p:txBody>
          <a:bodyPr/>
          <a:lstStyle/>
          <a:p>
            <a:r>
              <a:rPr lang="en-US" dirty="0"/>
              <a:t>SDLC is used by analysts to develop an information system. SDLC includes the following activities −</a:t>
            </a:r>
          </a:p>
          <a:p>
            <a:r>
              <a:rPr lang="en-US" dirty="0"/>
              <a:t>requirements</a:t>
            </a:r>
          </a:p>
          <a:p>
            <a:r>
              <a:rPr lang="en-US" dirty="0"/>
              <a:t>design</a:t>
            </a:r>
          </a:p>
          <a:p>
            <a:r>
              <a:rPr lang="en-US" dirty="0"/>
              <a:t>implementation</a:t>
            </a:r>
          </a:p>
          <a:p>
            <a:r>
              <a:rPr lang="en-US" dirty="0"/>
              <a:t>testing</a:t>
            </a:r>
          </a:p>
          <a:p>
            <a:r>
              <a:rPr lang="en-US" dirty="0"/>
              <a:t>deployment</a:t>
            </a:r>
          </a:p>
          <a:p>
            <a:r>
              <a:rPr lang="en-US" dirty="0"/>
              <a:t>operations</a:t>
            </a:r>
          </a:p>
          <a:p>
            <a:r>
              <a:rPr lang="en-US" dirty="0"/>
              <a:t>maintenance</a:t>
            </a:r>
          </a:p>
          <a:p>
            <a:endParaRPr lang="en-US" dirty="0"/>
          </a:p>
        </p:txBody>
      </p:sp>
    </p:spTree>
    <p:extLst>
      <p:ext uri="{BB962C8B-B14F-4D97-AF65-F5344CB8AC3E}">
        <p14:creationId xmlns:p14="http://schemas.microsoft.com/office/powerpoint/2010/main" val="980309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Phases of SDLC</a:t>
            </a:r>
          </a:p>
        </p:txBody>
      </p:sp>
      <p:sp>
        <p:nvSpPr>
          <p:cNvPr id="3" name="Content Placeholder 2"/>
          <p:cNvSpPr>
            <a:spLocks noGrp="1"/>
          </p:cNvSpPr>
          <p:nvPr>
            <p:ph idx="1"/>
          </p:nvPr>
        </p:nvSpPr>
        <p:spPr/>
        <p:txBody>
          <a:bodyPr/>
          <a:lstStyle/>
          <a:p>
            <a:r>
              <a:rPr lang="en-US" dirty="0"/>
              <a:t>Systems Development Life Cycle is a systematic approach which explicitly breaks down the work into phases that are required to implement either new or modified Information System.</a:t>
            </a:r>
          </a:p>
          <a:p>
            <a:endParaRPr lang="en-US" dirty="0"/>
          </a:p>
        </p:txBody>
      </p:sp>
    </p:spTree>
    <p:extLst>
      <p:ext uri="{BB962C8B-B14F-4D97-AF65-F5344CB8AC3E}">
        <p14:creationId xmlns:p14="http://schemas.microsoft.com/office/powerpoint/2010/main" val="2992862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DLC Phas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2870" y="387787"/>
            <a:ext cx="7669937" cy="6204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610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54646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b="1" dirty="0"/>
              <a:t>Feasibility Study or Planning</a:t>
            </a:r>
          </a:p>
          <a:p>
            <a:r>
              <a:rPr lang="en-US" dirty="0"/>
              <a:t>Define the problem and scope of existing system.</a:t>
            </a:r>
          </a:p>
          <a:p>
            <a:r>
              <a:rPr lang="en-US" dirty="0"/>
              <a:t>Overview the new system and determine its objectives.</a:t>
            </a:r>
          </a:p>
          <a:p>
            <a:r>
              <a:rPr lang="en-US" dirty="0"/>
              <a:t>Confirm project feasibility and produce the project Schedule.</a:t>
            </a:r>
          </a:p>
          <a:p>
            <a:r>
              <a:rPr lang="en-US" dirty="0"/>
              <a:t>During this phase, threats, constraints, integration and security of system are also considered.</a:t>
            </a:r>
          </a:p>
          <a:p>
            <a:r>
              <a:rPr lang="en-US" dirty="0"/>
              <a:t>A feasibility report for the entire project is created at the end of this phase.</a:t>
            </a:r>
          </a:p>
          <a:p>
            <a:endParaRPr lang="en-US" dirty="0"/>
          </a:p>
        </p:txBody>
      </p:sp>
    </p:spTree>
    <p:extLst>
      <p:ext uri="{BB962C8B-B14F-4D97-AF65-F5344CB8AC3E}">
        <p14:creationId xmlns:p14="http://schemas.microsoft.com/office/powerpoint/2010/main" val="26019211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639966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t>Analysis and Specification</a:t>
            </a:r>
          </a:p>
          <a:p>
            <a:r>
              <a:rPr lang="en-US" dirty="0"/>
              <a:t>Gather, analyze, and validate the information.</a:t>
            </a:r>
          </a:p>
          <a:p>
            <a:r>
              <a:rPr lang="en-US" dirty="0"/>
              <a:t>Define the requirements and prototypes for new system.</a:t>
            </a:r>
          </a:p>
          <a:p>
            <a:r>
              <a:rPr lang="en-US" dirty="0"/>
              <a:t>Evaluate the alternatives and prioritize the requirements.</a:t>
            </a:r>
          </a:p>
          <a:p>
            <a:r>
              <a:rPr lang="en-US" dirty="0"/>
              <a:t>Examine the information needs of end-user and enhances the system goal.</a:t>
            </a:r>
          </a:p>
          <a:p>
            <a:r>
              <a:rPr lang="en-US" dirty="0"/>
              <a:t>A Software Requirement Specification (SRS) document, which specifies the software, hardware, functional, and network requirements of the system is prepared at the end of this phase.</a:t>
            </a:r>
          </a:p>
          <a:p>
            <a:endParaRPr lang="en-US" dirty="0"/>
          </a:p>
        </p:txBody>
      </p:sp>
    </p:spTree>
    <p:extLst>
      <p:ext uri="{BB962C8B-B14F-4D97-AF65-F5344CB8AC3E}">
        <p14:creationId xmlns:p14="http://schemas.microsoft.com/office/powerpoint/2010/main" val="7084676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System Design</a:t>
            </a:r>
          </a:p>
          <a:p>
            <a:r>
              <a:rPr lang="en-US" dirty="0"/>
              <a:t>Includes the design of application, network, databases, user interfaces, and system interfaces.</a:t>
            </a:r>
          </a:p>
          <a:p>
            <a:r>
              <a:rPr lang="en-US" dirty="0"/>
              <a:t>Transform the SRS document into logical structure, which contains detailed and complete set of specifications that can be implemented in a programming language.</a:t>
            </a:r>
          </a:p>
          <a:p>
            <a:r>
              <a:rPr lang="en-US" dirty="0"/>
              <a:t>Create a contingency, training, maintenance, and operation plan.</a:t>
            </a:r>
          </a:p>
          <a:p>
            <a:r>
              <a:rPr lang="en-US" dirty="0"/>
              <a:t>Review the proposed design. Ensure that the final design must meet the requirements stated in SRS document.</a:t>
            </a:r>
          </a:p>
          <a:p>
            <a:r>
              <a:rPr lang="en-US" dirty="0"/>
              <a:t>Finally, prepare a design document which will be used during next phases.</a:t>
            </a:r>
          </a:p>
          <a:p>
            <a:endParaRPr lang="en-US" dirty="0"/>
          </a:p>
        </p:txBody>
      </p:sp>
    </p:spTree>
    <p:extLst>
      <p:ext uri="{BB962C8B-B14F-4D97-AF65-F5344CB8AC3E}">
        <p14:creationId xmlns:p14="http://schemas.microsoft.com/office/powerpoint/2010/main" val="20018653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Implementation</a:t>
            </a:r>
          </a:p>
          <a:p>
            <a:r>
              <a:rPr lang="en-US" dirty="0"/>
              <a:t>Implement the design into source code through coding.</a:t>
            </a:r>
          </a:p>
          <a:p>
            <a:r>
              <a:rPr lang="en-US" dirty="0"/>
              <a:t>Combine all the modules together into training environment that detects errors and defects.</a:t>
            </a:r>
          </a:p>
          <a:p>
            <a:r>
              <a:rPr lang="en-US" dirty="0"/>
              <a:t>A test report which contains errors is prepared through test plan that includes test related tasks such as test case generation, testing criteria, and resource allocation for testing.</a:t>
            </a:r>
          </a:p>
          <a:p>
            <a:r>
              <a:rPr lang="en-US" dirty="0"/>
              <a:t>Integrate the information system into its environment and install the new system.</a:t>
            </a:r>
          </a:p>
          <a:p>
            <a:endParaRPr lang="en-US" dirty="0"/>
          </a:p>
        </p:txBody>
      </p:sp>
    </p:spTree>
    <p:extLst>
      <p:ext uri="{BB962C8B-B14F-4D97-AF65-F5344CB8AC3E}">
        <p14:creationId xmlns:p14="http://schemas.microsoft.com/office/powerpoint/2010/main" val="2275379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Maintenance/Support</a:t>
            </a:r>
          </a:p>
          <a:p>
            <a:r>
              <a:rPr lang="en-US" dirty="0"/>
              <a:t>Include all the activities such as phone support or physical on-site support for users that is required once the system is installing.</a:t>
            </a:r>
          </a:p>
          <a:p>
            <a:r>
              <a:rPr lang="en-US" dirty="0"/>
              <a:t>Implement the changes that software might undergo over a period of time, or implement any new requirements after the software is deployed at the customer location.</a:t>
            </a:r>
          </a:p>
          <a:p>
            <a:r>
              <a:rPr lang="en-US" dirty="0"/>
              <a:t>It also includes handling the residual errors and resolve any issues that may exist in the system even after the testing phase.</a:t>
            </a:r>
          </a:p>
          <a:p>
            <a:r>
              <a:rPr lang="en-US" dirty="0"/>
              <a:t>Maintenance and support may be needed for a longer time for large systems and for a short time for smaller systems.</a:t>
            </a:r>
          </a:p>
          <a:p>
            <a:endParaRPr lang="en-US" dirty="0"/>
          </a:p>
        </p:txBody>
      </p:sp>
    </p:spTree>
    <p:extLst>
      <p:ext uri="{BB962C8B-B14F-4D97-AF65-F5344CB8AC3E}">
        <p14:creationId xmlns:p14="http://schemas.microsoft.com/office/powerpoint/2010/main" val="367613696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87</TotalTime>
  <Words>2494</Words>
  <Application>Microsoft Office PowerPoint</Application>
  <PresentationFormat>Widescreen</PresentationFormat>
  <Paragraphs>203</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inherit</vt:lpstr>
      <vt:lpstr>Trebuchet MS</vt:lpstr>
      <vt:lpstr>Verdana</vt:lpstr>
      <vt:lpstr>Wingdings 3</vt:lpstr>
      <vt:lpstr>Facet</vt:lpstr>
      <vt:lpstr>SYSTEMS ANALYSIS AND DESIGN</vt:lpstr>
      <vt:lpstr>Systems Analysis</vt:lpstr>
      <vt:lpstr>System Design</vt:lpstr>
      <vt:lpstr>PowerPoint Presentation</vt:lpstr>
      <vt:lpstr>Properties of a system</vt:lpstr>
      <vt:lpstr>Properties of a system</vt:lpstr>
      <vt:lpstr>Elements of a Systems</vt:lpstr>
      <vt:lpstr>Elements of a System</vt:lpstr>
      <vt:lpstr>Elements of a System</vt:lpstr>
      <vt:lpstr>Types of Systems</vt:lpstr>
      <vt:lpstr>Types of Systems</vt:lpstr>
      <vt:lpstr>Types of Systems</vt:lpstr>
      <vt:lpstr>Types of Systems</vt:lpstr>
      <vt:lpstr>System Models</vt:lpstr>
      <vt:lpstr>System Models</vt:lpstr>
      <vt:lpstr>Categories of Information</vt:lpstr>
      <vt:lpstr>Systems Analysis</vt:lpstr>
      <vt:lpstr>Systems Analysis</vt:lpstr>
      <vt:lpstr>Systems Design</vt:lpstr>
      <vt:lpstr>Systems Design</vt:lpstr>
      <vt:lpstr>SDLC</vt:lpstr>
      <vt:lpstr>SDLC</vt:lpstr>
      <vt:lpstr>Phases of SDLC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 AND DESIGN</dc:title>
  <dc:creator>vivian oloo</dc:creator>
  <cp:lastModifiedBy>vivian oloo</cp:lastModifiedBy>
  <cp:revision>6</cp:revision>
  <dcterms:created xsi:type="dcterms:W3CDTF">2025-02-24T10:09:25Z</dcterms:created>
  <dcterms:modified xsi:type="dcterms:W3CDTF">2025-02-24T11:37:08Z</dcterms:modified>
</cp:coreProperties>
</file>